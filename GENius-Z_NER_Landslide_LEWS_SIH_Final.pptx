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0" y="0"/>
            <a:ext cx="7315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48640"/>
            <a:ext cx="347472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AI-Based Early Warning &amp; Landslide Risk Monitoring</a:t>
            </a:r>
          </a:p>
          <a:p>
            <a:pPr>
              <a:defRPr sz="2200" b="1">
                <a:solidFill>
                  <a:srgbClr val="06B6D4"/>
                </a:solidFill>
                <a:latin typeface="Calibri"/>
              </a:defRPr>
            </a:pPr>
            <a:r>
              <a:t>in North Eastern Region (NER)</a:t>
            </a:r>
          </a:p>
          <a:p>
            <a:br/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A dual-engine decision-support platform combining dynamic hydrological triggers, explainable AI, zero-friction citizen crowdsourcing, and offline GIS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40480"/>
            <a:ext cx="420624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6B6D4"/>
                </a:solidFill>
                <a:latin typeface="Calibri"/>
              </a:rPr>
              <a:t>Problem Statement ID:</a:t>
            </a:r>
            <a:r>
              <a:rPr b="1" sz="1100">
                <a:solidFill>
                  <a:srgbClr val="FFFFFF"/>
                </a:solidFill>
                <a:latin typeface="Calibri"/>
              </a:rPr>
              <a:t> 26001</a:t>
            </a:r>
          </a:p>
          <a:p>
            <a:r>
              <a:rPr b="1" sz="1100">
                <a:solidFill>
                  <a:srgbClr val="06B6D4"/>
                </a:solidFill>
                <a:latin typeface="Calibri"/>
              </a:rPr>
              <a:t>Theme:</a:t>
            </a:r>
            <a:r>
              <a:rPr b="0" sz="1100">
                <a:solidFill>
                  <a:srgbClr val="FFFFFF"/>
                </a:solidFill>
                <a:latin typeface="Calibri"/>
              </a:rPr>
              <a:t> Disaster Management</a:t>
            </a:r>
          </a:p>
          <a:p>
            <a:r>
              <a:rPr b="1" sz="1100">
                <a:solidFill>
                  <a:srgbClr val="06B6D4"/>
                </a:solidFill>
                <a:latin typeface="Calibri"/>
              </a:rPr>
              <a:t>PS Category:</a:t>
            </a:r>
            <a:r>
              <a:rPr b="0" sz="1100">
                <a:solidFill>
                  <a:srgbClr val="FFFFFF"/>
                </a:solidFill>
                <a:latin typeface="Calibri"/>
              </a:rPr>
              <a:t> Software Edition</a:t>
            </a:r>
          </a:p>
          <a:p>
            <a:r>
              <a:rPr b="1" sz="1100">
                <a:solidFill>
                  <a:srgbClr val="06B6D4"/>
                </a:solidFill>
                <a:latin typeface="Calibri"/>
              </a:rPr>
              <a:t>Team Name:</a:t>
            </a:r>
            <a:r>
              <a:rPr b="1" sz="1100">
                <a:solidFill>
                  <a:srgbClr val="FFFFFF"/>
                </a:solidFill>
                <a:latin typeface="Calibri"/>
              </a:rPr>
              <a:t> GENius-Z</a:t>
            </a:r>
          </a:p>
          <a:p>
            <a:r>
              <a:rPr b="1" sz="1100">
                <a:solidFill>
                  <a:srgbClr val="06B6D4"/>
                </a:solidFill>
                <a:latin typeface="Calibri"/>
              </a:rPr>
              <a:t>Team ID:</a:t>
            </a:r>
            <a:r>
              <a:rPr b="0" sz="1100">
                <a:solidFill>
                  <a:srgbClr val="FFFFFF"/>
                </a:solidFill>
                <a:latin typeface="Calibri"/>
              </a:rPr>
              <a:t> [SIH2026-TBD]</a:t>
            </a:r>
          </a:p>
          <a:p>
            <a:r>
              <a:rPr b="1" sz="1100">
                <a:solidFill>
                  <a:srgbClr val="06B6D4"/>
                </a:solidFill>
                <a:latin typeface="Calibri"/>
              </a:rPr>
              <a:t>Pilot Jurisdiction:</a:t>
            </a:r>
            <a:r>
              <a:rPr b="0" sz="1100">
                <a:solidFill>
                  <a:srgbClr val="FFFFFF"/>
                </a:solidFill>
                <a:latin typeface="Calibri"/>
              </a:rPr>
              <a:t> Dima Hasao, Assam (NH-27 Corridor)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54864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Calibri"/>
              </a:defRPr>
            </a:pPr>
            <a:r>
              <a:t>PROTOTYPE MATURITY &amp; ARCHITECTURE SNAPSHOT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280160"/>
            <a:ext cx="2926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37160"/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MVP Status: 85% Completed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Fully functional FastAPI backend + React Vite Web GIS + Capacitor Android APK with native camera &amp; GPS.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280160"/>
            <a:ext cx="109728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0" y="1280160"/>
            <a:ext cx="2926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37160"/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Target Transit Corridor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Dima Hasao (NH-27 Lumding–Badarpur), lifeline to Barak Valley, Tripura &amp; Mizoram facing 30+ disruptions/yr.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280160"/>
            <a:ext cx="109728" cy="1463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0" y="2926080"/>
            <a:ext cx="2926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37160"/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Dual-Engine Risk Scoring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Fuses 30m DEM slope geotechnics with live 72h antecedent rainfall &amp; soil saturation from Open-Meteo.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926080"/>
            <a:ext cx="109728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0" y="2926080"/>
            <a:ext cx="2926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37160"/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Explainable AI &amp; Safe Governance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Transparent factor weights (Rainfall 35%, Slope 30%, Moisture 20%, Proximity 15%). Human-in-the-Loop decision support.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2926080"/>
            <a:ext cx="109728" cy="1463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0" y="4846320"/>
            <a:ext cx="603504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CORE TECHNOLOGY STACK &amp; OPEN GOVT DATA INTEGRATION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• Backend: Python FastAPI (Async REST APIs, Swagger / OpenAPI)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• AI / ML Engine: Kinematic Heuristics + Scikit-Learn / XGBoost Booster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• Frontend &amp; GIS: React 18, Vite, Tailwind CSS, Leaflet with Esri Topo Contours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• Mobile App: Capacitor Android Native APK (Camera, Geolocation, Offline Sync)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• Data Sources: Open-Meteo, NASA SRTM 30m DEM, GSI Bhukosh, ISRO Landslide 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6459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GENius-Z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PROBLEM, SOLUTION &amp; PROTOTYPE</a:t>
            </a:r>
          </a:p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AI-Based Early Warning and Landslide Risk Monitoring System in NER (PS: 26001)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164592"/>
            <a:ext cx="1737360" cy="530352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45309"/>
                </a:solidFill>
                <a:latin typeface="Calibri"/>
              </a:defRPr>
            </a:pPr>
            <a:r>
              <a:t>SMART INDIA HACKATHON 2026</a:t>
            </a:r>
          </a:p>
          <a:p>
            <a:pPr algn="ctr">
              <a:defRPr sz="1100" b="1">
                <a:solidFill>
                  <a:srgbClr val="B45309"/>
                </a:solidFill>
                <a:latin typeface="Calibri"/>
              </a:defRPr>
            </a:pPr>
            <a:r>
              <a:t>GRAND FINALE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4747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82880" rIns="182880"/>
          <a:lstStyle/>
          <a:p>
            <a:pPr algn="ctr"/>
            <a:r>
              <a:rPr b="1" sz="950">
                <a:solidFill>
                  <a:srgbClr val="EF4444"/>
                </a:solidFill>
                <a:latin typeface="Calibri"/>
              </a:rPr>
              <a:t>1. &gt;50% of India's Landslides in NER: </a:t>
            </a:r>
            <a:r>
              <a:rPr sz="900">
                <a:solidFill>
                  <a:srgbClr val="0F172A"/>
                </a:solidFill>
                <a:latin typeface="Calibri"/>
              </a:rPr>
              <a:t>Fragile Himalayan &amp; Indo-Burma ranges combined with 2,500+ mm monsoon rainfall cause rampant slope failures.</a:t>
            </a:r>
          </a:p>
          <a:p>
            <a:r>
              <a:rPr b="1" sz="950">
                <a:solidFill>
                  <a:srgbClr val="EF4444"/>
                </a:solidFill>
                <a:latin typeface="Calibri"/>
              </a:rPr>
              <a:t>2. NH-27 Transit Chokepoint: </a:t>
            </a:r>
            <a:r>
              <a:rPr sz="900">
                <a:solidFill>
                  <a:srgbClr val="0F172A"/>
                </a:solidFill>
                <a:latin typeface="Calibri"/>
              </a:rPr>
              <a:t>Over 35 annual blockades along Lumding–Haflong corridor, severing logistics to Barak Valley, Tripura &amp; Mizoram.</a:t>
            </a:r>
          </a:p>
          <a:p>
            <a:r>
              <a:rPr b="1" sz="950">
                <a:solidFill>
                  <a:srgbClr val="EF4444"/>
                </a:solidFill>
                <a:latin typeface="Calibri"/>
              </a:rPr>
              <a:t>3. ₹12-15 Cr Daily Economic Loss: </a:t>
            </a:r>
            <a:r>
              <a:rPr sz="900">
                <a:solidFill>
                  <a:srgbClr val="0F172A"/>
                </a:solidFill>
                <a:latin typeface="Calibri"/>
              </a:rPr>
              <a:t>Stranded freight, perishable food wastage, emergency BRO clearing, and tragic loss of commuter lives.</a:t>
            </a:r>
          </a:p>
          <a:p>
            <a:r>
              <a:rPr b="1" sz="950">
                <a:solidFill>
                  <a:srgbClr val="EF4444"/>
                </a:solidFill>
                <a:latin typeface="Calibri"/>
              </a:rPr>
              <a:t>4. Fragmented &amp; Static Warnings: </a:t>
            </a:r>
            <a:r>
              <a:rPr sz="900">
                <a:solidFill>
                  <a:srgbClr val="0F172A"/>
                </a:solidFill>
                <a:latin typeface="Calibri"/>
              </a:rPr>
              <a:t>GSI Bhukosh maps 'where' is vulnerable but not 'when'. IMD gives regional rain, missing slope kinematics.</a:t>
            </a:r>
          </a:p>
          <a:p>
            <a:r>
              <a:rPr b="1" sz="950">
                <a:solidFill>
                  <a:srgbClr val="EF4444"/>
                </a:solidFill>
                <a:latin typeface="Calibri"/>
              </a:rPr>
              <a:t>5. Delayed Field Intel &amp; Blackouts: </a:t>
            </a:r>
            <a:r>
              <a:rPr sz="900">
                <a:solidFill>
                  <a:srgbClr val="0F172A"/>
                </a:solidFill>
                <a:latin typeface="Calibri"/>
              </a:rPr>
              <a:t>Citizen hazard observations reach authorities hours late; remote hill areas suffer frequent cellular blackouts.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10896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CRITICAL PROBLEM IN 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051560"/>
            <a:ext cx="3749039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82880" rIns="182880"/>
          <a:lstStyle/>
          <a:p>
            <a:pPr algn="ctr"/>
            <a:r>
              <a:rPr b="1" sz="950">
                <a:solidFill>
                  <a:srgbClr val="0284C7"/>
                </a:solidFill>
                <a:latin typeface="Calibri"/>
              </a:rPr>
              <a:t>1. Dual-Engine Risk Scoring (0–100): </a:t>
            </a:r>
            <a:r>
              <a:rPr sz="900">
                <a:solidFill>
                  <a:srgbClr val="0F172A"/>
                </a:solidFill>
                <a:latin typeface="Calibri"/>
              </a:rPr>
              <a:t>Couples static geotechnics (30m DEM slope, Disang shale lithology) with dynamic triggers (live 72h antecedent rainfall + soil saturation).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2. Explainable AI (XAI) Transparency: </a:t>
            </a:r>
            <a:r>
              <a:rPr sz="900">
                <a:solidFill>
                  <a:srgbClr val="0F172A"/>
                </a:solidFill>
                <a:latin typeface="Calibri"/>
              </a:rPr>
              <a:t>Computes transparent feature weights (Rain: 35%, Slope: 30%, Moisture: 20%, Proximity: 15%) so disaster officers know exactly WHY risk spiked.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3. Automated Flash Flood &amp; Cloudburst Alert: </a:t>
            </a:r>
            <a:r>
              <a:rPr sz="900">
                <a:solidFill>
                  <a:srgbClr val="0F172A"/>
                </a:solidFill>
                <a:latin typeface="Calibri"/>
              </a:rPr>
              <a:t>Instant trigger if 2h rainfall exceeds 50mm or river discharge exceeds 35 m3/s.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4. Resilient Offline Architecture: </a:t>
            </a:r>
            <a:r>
              <a:rPr sz="900">
                <a:solidFill>
                  <a:srgbClr val="0F172A"/>
                </a:solidFill>
                <a:latin typeface="Calibri"/>
              </a:rPr>
              <a:t>Client-side IndexedDB/LocalStorage cache ensures uninterrupted telemetry view even in complete telecom dead zones.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5. Safe Human-in-the-Loop Governance: </a:t>
            </a:r>
            <a:r>
              <a:rPr sz="900">
                <a:solidFill>
                  <a:srgbClr val="0F172A"/>
                </a:solidFill>
                <a:latin typeface="Calibri"/>
              </a:rPr>
              <a:t>Decision support: AI flags danger &amp; suggests protocols -&gt; District Disaster Authorities verify -&gt; Official action dispatched.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38328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PROPOSED SOLUTION &amp; INNOVATION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051560"/>
            <a:ext cx="365760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82880" rIns="182880"/>
          <a:lstStyle/>
          <a:p>
            <a:pPr algn="ctr"/>
            <a:r>
              <a:rPr b="1" sz="950">
                <a:solidFill>
                  <a:srgbClr val="10B981"/>
                </a:solidFill>
                <a:latin typeface="Calibri"/>
              </a:rPr>
              <a:t>• Door 1: Citizen 15-Sec Reporter (/report): </a:t>
            </a:r>
            <a:r>
              <a:rPr sz="900">
                <a:solidFill>
                  <a:srgbClr val="0F172A"/>
                </a:solidFill>
                <a:latin typeface="Calibri"/>
              </a:rPr>
              <a:t>Mobile-first PWA &amp; Android APK with ZERO login friction. Auto GPS, photo evidence upload, and instant receipt ID (REP-2026-XXXX).</a:t>
            </a:r>
          </a:p>
          <a:p>
            <a:r>
              <a:rPr b="1" sz="950">
                <a:solidFill>
                  <a:srgbClr val="10B981"/>
                </a:solidFill>
                <a:latin typeface="Calibri"/>
              </a:rPr>
              <a:t>• Door 2: DDMA Command Hub (/officer/*): </a:t>
            </a:r>
            <a:r>
              <a:rPr sz="900">
                <a:solidFill>
                  <a:srgbClr val="0F172A"/>
                </a:solidFill>
                <a:latin typeface="Calibri"/>
              </a:rPr>
              <a:t>Scoped role-based login (Dima Hasao). Leaflet Topo map with Esri elevation contours, pulsing radar markers, and priority evacuation ranking.</a:t>
            </a:r>
          </a:p>
          <a:p>
            <a:r>
              <a:rPr b="1" sz="950">
                <a:solidFill>
                  <a:srgbClr val="10B981"/>
                </a:solidFill>
                <a:latin typeface="Calibri"/>
              </a:rPr>
              <a:t>• Telemetry Analytics &amp; Triage Queue: </a:t>
            </a:r>
            <a:r>
              <a:rPr sz="900">
                <a:solidFill>
                  <a:srgbClr val="0F172A"/>
                </a:solidFill>
                <a:latin typeface="Calibri"/>
              </a:rPr>
              <a:t>Interactive Recharts correlating 72h rainfall vs. 80% soil shear limit. Live triage queue to review citizen field photos and dispatch SDRF.</a:t>
            </a:r>
          </a:p>
          <a:p>
            <a:r>
              <a:rPr b="1" sz="950">
                <a:solidFill>
                  <a:srgbClr val="10B981"/>
                </a:solidFill>
                <a:latin typeface="Calibri"/>
              </a:rPr>
              <a:t>• Multi-Lingual Localization: </a:t>
            </a:r>
            <a:r>
              <a:rPr sz="900">
                <a:solidFill>
                  <a:srgbClr val="0F172A"/>
                </a:solidFill>
                <a:latin typeface="Calibri"/>
              </a:rPr>
              <a:t>Full UI localization in English, Hindi, and Assamese (state pilot language); 22 Indian regional languages scaffolded.</a:t>
            </a:r>
          </a:p>
          <a:p>
            <a:r>
              <a:rPr b="1" sz="950">
                <a:solidFill>
                  <a:srgbClr val="10B981"/>
                </a:solidFill>
                <a:latin typeface="Calibri"/>
              </a:rPr>
              <a:t>• Prototype Maturity: 85% Completed: </a:t>
            </a:r>
            <a:r>
              <a:rPr sz="900">
                <a:solidFill>
                  <a:srgbClr val="0F172A"/>
                </a:solidFill>
                <a:latin typeface="Calibri"/>
              </a:rPr>
              <a:t>Live pilot dataset (25 habitations in Dima Hasao), live API swagger docs at /docs, tested and operational.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188720"/>
            <a:ext cx="329184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LIVE PROTOTYPE: TWO ENTRY DOORS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66360"/>
            <a:ext cx="11247120" cy="1325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200" b="1">
                <a:solidFill>
                  <a:srgbClr val="06B6D4"/>
                </a:solidFill>
                <a:latin typeface="Calibri"/>
              </a:defRPr>
            </a:pPr>
            <a:r>
              <a:t>WHY WE STAND OUT? — FOUR UNMATCHED ADVANTAGES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532120"/>
            <a:ext cx="25603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1. Dynamic Hydrological AI</a:t>
            </a:r>
          </a:p>
          <a:p>
            <a:pPr>
              <a:defRPr sz="850">
                <a:solidFill>
                  <a:srgbClr val="CBD5E1"/>
                </a:solidFill>
                <a:latin typeface="Calibri"/>
              </a:defRPr>
            </a:pPr>
            <a:r>
              <a:t>Not static hazard maps: computes real-time pore-water pressure &amp; rainfall accumulation.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5532120"/>
            <a:ext cx="25603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2. Explainable AI (XAI)</a:t>
            </a:r>
          </a:p>
          <a:p>
            <a:pPr>
              <a:defRPr sz="850">
                <a:solidFill>
                  <a:srgbClr val="CBD5E1"/>
                </a:solidFill>
                <a:latin typeface="Calibri"/>
              </a:defRPr>
            </a:pPr>
            <a:r>
              <a:t>Not a black-box: delivers auditable factor weights for executive evacuation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5532120"/>
            <a:ext cx="25603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3. Offline Resilience</a:t>
            </a:r>
          </a:p>
          <a:p>
            <a:pPr>
              <a:defRPr sz="850">
                <a:solidFill>
                  <a:srgbClr val="CBD5E1"/>
                </a:solidFill>
                <a:latin typeface="Calibri"/>
              </a:defRPr>
            </a:pPr>
            <a:r>
              <a:t>Not internet-dependent: client-side cache &amp; PWA sync maintain operation in hill dead zones.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5532120"/>
            <a:ext cx="25603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4. Dual-Door Zero Friction</a:t>
            </a:r>
          </a:p>
          <a:p>
            <a:pPr>
              <a:defRPr sz="850">
                <a:solidFill>
                  <a:srgbClr val="CBD5E1"/>
                </a:solidFill>
                <a:latin typeface="Calibri"/>
              </a:defRPr>
            </a:pPr>
            <a:r>
              <a:t>Not cumbersome: separates 15-sec citizen crowd reporting from official command auth.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6459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GENius-Z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TECHNICAL WORKFLOW &amp; SYSTEM ARCHITECTURE</a:t>
            </a:r>
          </a:p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AI-Based Early Warning and Landslide Risk Monitoring System in NER (PS: 26001)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164592"/>
            <a:ext cx="1737360" cy="530352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45309"/>
                </a:solidFill>
                <a:latin typeface="Calibri"/>
              </a:defRPr>
            </a:pPr>
            <a:r>
              <a:t>SMART INDIA HACKATHON 2026</a:t>
            </a:r>
          </a:p>
          <a:p>
            <a:pPr algn="ctr">
              <a:defRPr sz="1100" b="1">
                <a:solidFill>
                  <a:srgbClr val="B45309"/>
                </a:solidFill>
                <a:latin typeface="Calibri"/>
              </a:defRPr>
            </a:pPr>
            <a:r>
              <a:t>GRAND FINALE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783080" cy="685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1. Multi-Source Ingestion</a:t>
            </a:r>
          </a:p>
          <a:p>
            <a:pPr algn="ctr">
              <a:defRPr sz="800">
                <a:solidFill>
                  <a:srgbClr val="F1F5F9"/>
                </a:solidFill>
                <a:latin typeface="Calibri"/>
              </a:defRPr>
            </a:pPr>
            <a:r>
              <a:t>Open-Meteo, SRTM 30m DEM, GSI Bhukosh, Sentinel-2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051560"/>
            <a:ext cx="1783080" cy="685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2. Spatial Feature Pipeline</a:t>
            </a:r>
          </a:p>
          <a:p>
            <a:pPr algn="ctr">
              <a:defRPr sz="800">
                <a:solidFill>
                  <a:srgbClr val="F1F5F9"/>
                </a:solidFill>
                <a:latin typeface="Calibri"/>
              </a:defRPr>
            </a:pPr>
            <a:r>
              <a:t>Slope, Aspect, Antecedent 72h Rain, Disang Lithology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51560"/>
            <a:ext cx="1783080" cy="685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3. Dual AI Risk Engine</a:t>
            </a:r>
          </a:p>
          <a:p>
            <a:pPr algn="ctr">
              <a:defRPr sz="800">
                <a:solidFill>
                  <a:srgbClr val="F1F5F9"/>
                </a:solidFill>
                <a:latin typeface="Calibri"/>
              </a:defRPr>
            </a:pPr>
            <a:r>
              <a:t>Multi-criteria Kinematics + XGBoost / Random Forest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051560"/>
            <a:ext cx="1783080" cy="685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4. Explainable Score (0-100)</a:t>
            </a:r>
          </a:p>
          <a:p>
            <a:pPr algn="ctr">
              <a:defRPr sz="800">
                <a:solidFill>
                  <a:srgbClr val="F1F5F9"/>
                </a:solidFill>
                <a:latin typeface="Calibri"/>
              </a:defRPr>
            </a:pPr>
            <a:r>
              <a:t>Transparent factor weights (Rain 35%, Slope 30%...)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051560"/>
            <a:ext cx="1783080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5. Dual-Portal UI &amp; Mobile</a:t>
            </a:r>
          </a:p>
          <a:p>
            <a:pPr algn="ctr">
              <a:defRPr sz="800">
                <a:solidFill>
                  <a:srgbClr val="F1F5F9"/>
                </a:solidFill>
                <a:latin typeface="Calibri"/>
              </a:defRPr>
            </a:pPr>
            <a:r>
              <a:t>Citizen 15-sec PWA + Officer Leaflet Topo 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1051560"/>
            <a:ext cx="1783080" cy="6858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6. Civil Defense Action</a:t>
            </a:r>
          </a:p>
          <a:p>
            <a:pPr algn="ctr">
              <a:defRPr sz="800">
                <a:solidFill>
                  <a:srgbClr val="F1F5F9"/>
                </a:solidFill>
                <a:latin typeface="Calibri"/>
              </a:defRPr>
            </a:pPr>
            <a:r>
              <a:t>DDMA Alert, SDRF Dispatch, NH-27 Diversion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35661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82880" rIns="182880"/>
          <a:lstStyle/>
          <a:p>
            <a:pPr algn="ctr"/>
            <a:r>
              <a:rPr b="1" sz="950">
                <a:solidFill>
                  <a:srgbClr val="0284C7"/>
                </a:solidFill>
                <a:latin typeface="Calibri"/>
              </a:rPr>
              <a:t>• Live Meteorological Ingestion: </a:t>
            </a:r>
            <a:r>
              <a:rPr sz="850">
                <a:solidFill>
                  <a:srgbClr val="0F172A"/>
                </a:solidFill>
                <a:latin typeface="Calibri"/>
              </a:rPr>
              <a:t>Open-Meteo &amp; IMD APIs provide real-time 72h antecedent rainfall, 2h cloudburst rates, and soil moisture saturation.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Terrain Elevation &amp; Geotechnics: </a:t>
            </a:r>
            <a:r>
              <a:rPr sz="850">
                <a:solidFill>
                  <a:srgbClr val="0F172A"/>
                </a:solidFill>
                <a:latin typeface="Calibri"/>
              </a:rPr>
              <a:t>NASA SRTM 30m Digital Elevation Model (DEM) resolves slope angles (15° to 50°), elevation profiles, and aspect gradients.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Historical Hazard Database: </a:t>
            </a:r>
            <a:r>
              <a:rPr sz="850">
                <a:solidFill>
                  <a:srgbClr val="0F172A"/>
                </a:solidFill>
                <a:latin typeface="Calibri"/>
              </a:rPr>
              <a:t>GSI Bhukosh &amp; ISRO Landslide Atlas integrated via GeoJSON; Haversine proximity calculates nearest historical collapse corridor.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FastAPI Microservice Engine: </a:t>
            </a:r>
            <a:r>
              <a:rPr sz="850">
                <a:solidFill>
                  <a:srgbClr val="0F172A"/>
                </a:solidFill>
                <a:latin typeface="Calibri"/>
              </a:rPr>
              <a:t>High-performance asynchronous Python API with Pydantic validation, CORS middleware, and automatic Swagger OpenAPI documentation.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Spatial Datastore &amp; Cache: </a:t>
            </a:r>
            <a:r>
              <a:rPr sz="850">
                <a:solidFill>
                  <a:srgbClr val="0F172A"/>
                </a:solidFill>
                <a:latin typeface="Calibri"/>
              </a:rPr>
              <a:t>GeoJSON telemetry datastore for 25 pilot settlements + SQLite/PostgreSQL layer with client-side LocalStorage cache.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11680"/>
            <a:ext cx="320040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DATA INGESTION &amp; BACKEND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74519"/>
            <a:ext cx="35661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82880" rIns="182880"/>
          <a:lstStyle/>
          <a:p>
            <a:pPr algn="ctr"/>
            <a:r>
              <a:rPr b="1" sz="950">
                <a:solidFill>
                  <a:srgbClr val="0284C7"/>
                </a:solidFill>
                <a:latin typeface="Calibri"/>
              </a:rPr>
              <a:t>• Dual Risk Logic Architecture: </a:t>
            </a:r>
            <a:r>
              <a:rPr sz="850">
                <a:solidFill>
                  <a:srgbClr val="0F172A"/>
                </a:solidFill>
                <a:latin typeface="Calibri"/>
              </a:rPr>
              <a:t>Bifurcates Susceptibility (WHERE slope is intrinsically weak) from Dynamic Trigger (WHEN rainfall &amp; pore pressure cross safety thresholds).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Multi-Factor Mathematical Formula: </a:t>
            </a:r>
            <a:r>
              <a:rPr sz="850">
                <a:solidFill>
                  <a:srgbClr val="0F172A"/>
                </a:solidFill>
                <a:latin typeface="Calibri"/>
              </a:rPr>
              <a:t>Composite Index = [(0.30 x Slope) + (0.35 x Rain) + (0.20 x Moisture) + (0.15 x Hist. Proximity)] x Lithology Multiplier.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Regional Lithology Multiplier: </a:t>
            </a:r>
            <a:r>
              <a:rPr sz="850">
                <a:solidFill>
                  <a:srgbClr val="0F172A"/>
                </a:solidFill>
                <a:latin typeface="Calibri"/>
              </a:rPr>
              <a:t>Accounts for fissile Disang shales &amp; weathered phyllites in Dima Hasao (1.15x) + anthropogenic road-cut slope penalty (+7.5 pts).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Explainable AI (XAI) Breakdown: </a:t>
            </a:r>
            <a:r>
              <a:rPr sz="850">
                <a:solidFill>
                  <a:srgbClr val="0F172A"/>
                </a:solidFill>
                <a:latin typeface="Calibri"/>
              </a:rPr>
              <a:t>Returns exact contribution percentage of each factor, preventing black-box uncertainty during disaster mobilization.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Flash Flood &amp; Cloudburst Alert: </a:t>
            </a:r>
            <a:r>
              <a:rPr sz="850">
                <a:solidFill>
                  <a:srgbClr val="0F172A"/>
                </a:solidFill>
                <a:latin typeface="Calibri"/>
              </a:rPr>
              <a:t>Instant automatic warning if 2-hour cloudburst &gt;50mm or upstream river discharge exceeds 35 m3/s.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011680"/>
            <a:ext cx="320040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AI/ML DUAL-ENGINE &amp; XAI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74519"/>
            <a:ext cx="35661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82880" rIns="182880"/>
          <a:lstStyle/>
          <a:p>
            <a:pPr algn="ctr"/>
            <a:r>
              <a:rPr b="1" sz="950">
                <a:solidFill>
                  <a:srgbClr val="0284C7"/>
                </a:solidFill>
                <a:latin typeface="Calibri"/>
              </a:rPr>
              <a:t>• Citizen Reporter (Mobile App &amp; PWA): </a:t>
            </a:r>
            <a:r>
              <a:rPr sz="850">
                <a:solidFill>
                  <a:srgbClr val="0F172A"/>
                </a:solidFill>
                <a:latin typeface="Calibri"/>
              </a:rPr>
              <a:t>Capacitor Android APK with native camera capture, high-accuracy GPS geolocation, and 15-second submission with instant tracking receipt.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Official Command Center (Web GIS): </a:t>
            </a:r>
            <a:r>
              <a:rPr sz="850">
                <a:solidFill>
                  <a:srgbClr val="0F172A"/>
                </a:solidFill>
                <a:latin typeface="Calibri"/>
              </a:rPr>
              <a:t>React 18 + Leaflet Topo map rendering Esri elevation contours, color-coded risk markers (0-100), and animated pulsing radar warnings.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Telemetry Analytics Dashboard: </a:t>
            </a:r>
            <a:r>
              <a:rPr sz="850">
                <a:solidFill>
                  <a:srgbClr val="0F172A"/>
                </a:solidFill>
                <a:latin typeface="Calibri"/>
              </a:rPr>
              <a:t>Recharts visualizer tracking 72h antecedent rainfall vs. 80% soil shear limit threshold; CSV dataset export for offline disaster units.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Citizen Report Triage Queue: </a:t>
            </a:r>
            <a:r>
              <a:rPr sz="850">
                <a:solidFill>
                  <a:srgbClr val="0F172A"/>
                </a:solidFill>
                <a:latin typeface="Calibri"/>
              </a:rPr>
              <a:t>Live DDMA verification queue with photo zoom, GPS coordinates, and status workflow (Pending -&gt; Reviewed -&gt; Actioned).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SDRF &amp; BRO Civil Defense Protocols: </a:t>
            </a:r>
            <a:r>
              <a:rPr sz="850">
                <a:solidFill>
                  <a:srgbClr val="0F172A"/>
                </a:solidFill>
                <a:latin typeface="Calibri"/>
              </a:rPr>
              <a:t>Automated evacuation protocol recommendations; NDMA SACHET CAP SMS broadcast readiness and PWD excavator pre-positioning.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011680"/>
            <a:ext cx="320040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DISSEMINATION &amp; CIVIL DEFENSE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6459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GENius-Z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FEASIBILITY, VIABILITY &amp; BENCHMARKING</a:t>
            </a:r>
          </a:p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AI-Based Early Warning and Landslide Risk Monitoring System in NER (PS: 26001)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164592"/>
            <a:ext cx="1737360" cy="530352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45309"/>
                </a:solidFill>
                <a:latin typeface="Calibri"/>
              </a:defRPr>
            </a:pPr>
            <a:r>
              <a:t>SMART INDIA HACKATHON 2026</a:t>
            </a:r>
          </a:p>
          <a:p>
            <a:pPr algn="ctr">
              <a:defRPr sz="1100" b="1">
                <a:solidFill>
                  <a:srgbClr val="B45309"/>
                </a:solidFill>
                <a:latin typeface="Calibri"/>
              </a:defRPr>
            </a:pPr>
            <a:r>
              <a:t>GRAND FINALE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29184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82880" rIns="182880"/>
          <a:lstStyle/>
          <a:p>
            <a:pPr algn="ctr"/>
            <a:r>
              <a:rPr b="1" sz="1000">
                <a:solidFill>
                  <a:srgbClr val="0284C7"/>
                </a:solidFill>
                <a:latin typeface="Calibri"/>
              </a:rPr>
              <a:t>Technical Feasibility
</a:t>
            </a:r>
            <a:r>
              <a:rPr sz="850">
                <a:solidFill>
                  <a:srgbClr val="0F172A"/>
                </a:solidFill>
                <a:latin typeface="Calibri"/>
              </a:rPr>
              <a:t>Sub-100ms API inference; leverages open global telemetry (Open-Meteo, NASA SRTM) without reliance on proprietary sensors.
</a:t>
            </a:r>
          </a:p>
          <a:p>
            <a:r>
              <a:rPr b="1" sz="1000">
                <a:solidFill>
                  <a:srgbClr val="0284C7"/>
                </a:solidFill>
                <a:latin typeface="Calibri"/>
              </a:rPr>
              <a:t>Operational Feasibility
</a:t>
            </a:r>
            <a:r>
              <a:rPr sz="850">
                <a:solidFill>
                  <a:srgbClr val="0F172A"/>
                </a:solidFill>
                <a:latin typeface="Calibri"/>
              </a:rPr>
              <a:t>Browser-based officer hub requires zero desktop GIS installation; 1-click login allows immediate DDMA emergency deployment.
</a:t>
            </a:r>
          </a:p>
          <a:p>
            <a:r>
              <a:rPr b="1" sz="1000">
                <a:solidFill>
                  <a:srgbClr val="0284C7"/>
                </a:solidFill>
                <a:latin typeface="Calibri"/>
              </a:rPr>
              <a:t>Economic Feasibility
</a:t>
            </a:r>
            <a:r>
              <a:rPr sz="850">
                <a:solidFill>
                  <a:srgbClr val="0F172A"/>
                </a:solidFill>
                <a:latin typeface="Calibri"/>
              </a:rPr>
              <a:t>Software-first architecture uses existing satellite &amp; weather models; ₹0 sensor hardware capex enables fast state-wide rollout.
</a:t>
            </a:r>
          </a:p>
          <a:p>
            <a:r>
              <a:rPr b="1" sz="1000">
                <a:solidFill>
                  <a:srgbClr val="0284C7"/>
                </a:solidFill>
                <a:latin typeface="Calibri"/>
              </a:rPr>
              <a:t>Scalability Feasibility
</a:t>
            </a:r>
            <a:r>
              <a:rPr sz="850">
                <a:solidFill>
                  <a:srgbClr val="0F172A"/>
                </a:solidFill>
                <a:latin typeface="Calibri"/>
              </a:rPr>
              <a:t>Microservice design enables seamless expansion from Dima Hasao to all 8 NER states and 12 Himalayan mountain states.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292608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FOUR-PILLAR FEASIBILITY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051560"/>
            <a:ext cx="34747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82880" rIns="182880"/>
          <a:lstStyle/>
          <a:p>
            <a:pPr algn="ctr"/>
            <a:r>
              <a:rPr b="1" sz="950">
                <a:solidFill>
                  <a:srgbClr val="EF4444"/>
                </a:solidFill>
                <a:latin typeface="Calibri"/>
              </a:rPr>
              <a:t>• Remote Hill Telecom Outages
</a:t>
            </a:r>
            <a:r>
              <a:rPr sz="850">
                <a:solidFill>
                  <a:srgbClr val="0F172A"/>
                </a:solidFill>
                <a:latin typeface="Calibri"/>
              </a:rPr>
              <a:t>   Solution: Client-side IndexedDB &amp; LocalStorage cache preserves all surveillance data with offline banner &amp; PWA background sync.
</a:t>
            </a:r>
          </a:p>
          <a:p>
            <a:r>
              <a:rPr b="1" sz="950">
                <a:solidFill>
                  <a:srgbClr val="EF4444"/>
                </a:solidFill>
                <a:latin typeface="Calibri"/>
              </a:rPr>
              <a:t>• Sparse Historical Slope Records
</a:t>
            </a:r>
            <a:r>
              <a:rPr sz="850">
                <a:solidFill>
                  <a:srgbClr val="0F172A"/>
                </a:solidFill>
                <a:latin typeface="Calibri"/>
              </a:rPr>
              <a:t>   Solution: Hybrid approach combining kinematic geotechnical slope physics with transfer learning on GSI Bhukosh inventory.
</a:t>
            </a:r>
          </a:p>
          <a:p>
            <a:r>
              <a:rPr b="1" sz="950">
                <a:solidFill>
                  <a:srgbClr val="EF4444"/>
                </a:solidFill>
                <a:latin typeface="Calibri"/>
              </a:rPr>
              <a:t>• False Alarm Fatigue
</a:t>
            </a:r>
            <a:r>
              <a:rPr sz="850">
                <a:solidFill>
                  <a:srgbClr val="0F172A"/>
                </a:solidFill>
                <a:latin typeface="Calibri"/>
              </a:rPr>
              <a:t>   Solution: Dual-threshold validation (72h cumulative rainfall &gt;200mm AND root-zone soil saturation &gt;80%) prevents false alarms.
</a:t>
            </a:r>
          </a:p>
          <a:p>
            <a:r>
              <a:rPr b="1" sz="950">
                <a:solidFill>
                  <a:srgbClr val="EF4444"/>
                </a:solidFill>
                <a:latin typeface="Calibri"/>
              </a:rPr>
              <a:t>• Administrative Adoption Inertia
</a:t>
            </a:r>
            <a:r>
              <a:rPr sz="850">
                <a:solidFill>
                  <a:srgbClr val="0F172A"/>
                </a:solidFill>
                <a:latin typeface="Calibri"/>
              </a:rPr>
              <a:t>   Solution: Human-in-the-Loop design; AI recommends action while District Disaster Magistrate retains final authorization.
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188720"/>
            <a:ext cx="310896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CHALLENGES &amp; TECHNICAL SOLUTIONS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589520" y="1051560"/>
          <a:ext cx="41148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914400"/>
                <a:gridCol w="1188720"/>
              </a:tblGrid>
              <a:tr h="56823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GSI Bhukosh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IMD Weather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GENius-Z (Ours)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Dynamic 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Static (Where)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Rain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Live 72h Rain + Soil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Risk Metric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Qualitative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Rainfall mm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0–100 Risk Score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Explainable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 (Maps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SHAP / Factor Weights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Citizen Triage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15-sec GPS + Photo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Offline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IndexedDB Resilient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Deployment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High (GIS servers)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Regional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Zero Hardware Capex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5166360"/>
            <a:ext cx="11247120" cy="1325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200" b="1">
                <a:solidFill>
                  <a:srgbClr val="06B6D4"/>
                </a:solidFill>
                <a:latin typeface="Calibri"/>
              </a:defRPr>
            </a:pPr>
            <a:r>
              <a:t>PILOT VIABILITY: DIMA HASAO DISTRICT (NH-27 / LUMDING-BADARPUR)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532120"/>
            <a:ext cx="34747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09728" rIns="109728"/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25 Settlements Monitored</a:t>
            </a:r>
          </a:p>
          <a:p>
            <a:pPr>
              <a:defRPr sz="850">
                <a:solidFill>
                  <a:srgbClr val="CBD5E1"/>
                </a:solidFill>
                <a:latin typeface="Calibri"/>
              </a:defRPr>
            </a:pPr>
            <a:r>
              <a:t>Covers 110 km of NH-27 chokepoints: Jatinga Ridge, Harangajao Pass, Mahur Valley, Migrendisa.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5532120"/>
            <a:ext cx="34747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09728" rIns="109728"/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100% Software-First Rollout</a:t>
            </a:r>
          </a:p>
          <a:p>
            <a:pPr>
              <a:defRPr sz="850">
                <a:solidFill>
                  <a:srgbClr val="CBD5E1"/>
                </a:solidFill>
                <a:latin typeface="Calibri"/>
              </a:defRPr>
            </a:pPr>
            <a:r>
              <a:t>Eliminates ₹25+ Lakhs per km IoT sensor deployment cost; runs instantly on cloud or local district servers.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5532120"/>
            <a:ext cx="34747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09728" rIns="109728"/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Sub-15 Minute Civil Mobilization</a:t>
            </a:r>
          </a:p>
          <a:p>
            <a:pPr>
              <a:defRPr sz="850">
                <a:solidFill>
                  <a:srgbClr val="CBD5E1"/>
                </a:solidFill>
                <a:latin typeface="Calibri"/>
              </a:defRPr>
            </a:pPr>
            <a:r>
              <a:t>Empowers DDMA and BRO to stage excavators and reroute traffic BEFORE catastrophic slope failure.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6459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GENius-Z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IMPACTS, BENEFITS &amp; SAMPLE SCENARIO</a:t>
            </a:r>
          </a:p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AI-Based Early Warning and Landslide Risk Monitoring System in NER (PS: 26001)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164592"/>
            <a:ext cx="1737360" cy="530352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45309"/>
                </a:solidFill>
                <a:latin typeface="Calibri"/>
              </a:defRPr>
            </a:pPr>
            <a:r>
              <a:t>SMART INDIA HACKATHON 2026</a:t>
            </a:r>
          </a:p>
          <a:p>
            <a:pPr algn="ctr">
              <a:defRPr sz="1100" b="1">
                <a:solidFill>
                  <a:srgbClr val="B45309"/>
                </a:solidFill>
                <a:latin typeface="Calibri"/>
              </a:defRPr>
            </a:pPr>
            <a:r>
              <a:t>GRAND FINALE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6576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4048" lIns="164592" rIns="164592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• Saves ₹100+ Cr annually in averted highway closures along NH-27.</a:t>
            </a:r>
            <a:br/>
            <a:r>
              <a:t>• Cuts perishable cargo demurrage and fuel wastage for 5,000+ trucks/day.</a:t>
            </a:r>
            <a:br/>
            <a:r>
              <a:t>• Optimizes PWD &amp; BRO equipment dispatch, cutting clearing costs by 60%.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365760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ECONOMIC BENEFITS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51560"/>
            <a:ext cx="36576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4048" lIns="164592" rIns="164592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• Targets ZERO preventable fatalities in vulnerable toe settlements.</a:t>
            </a:r>
            <a:br/>
            <a:r>
              <a:t>• 12 to 24 hours advance civil defense mobilization window.</a:t>
            </a:r>
            <a:br/>
            <a:r>
              <a:t>• Safeguards Lumding–Badarpur mountain railway passenger corridors.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51560"/>
            <a:ext cx="365760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SOCIAL &amp; HUMANITARIAN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051560"/>
            <a:ext cx="36576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4048" lIns="164592" rIns="164592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• Single unified dashboard for State Disaster Authorities (ASDMA / NDMA).</a:t>
            </a:r>
            <a:br/>
            <a:r>
              <a:t>• Auditable Explainable AI protects administrators during crisis audits.</a:t>
            </a:r>
            <a:br/>
            <a:r>
              <a:t>• Enables proactive slope drainage to prevent recurring mudslides.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51560"/>
            <a:ext cx="36576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GOVERNANCE &amp; ENVIRONMENT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88920"/>
            <a:ext cx="112471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907792"/>
            <a:ext cx="1088136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THE 'GOLDEN 15-MINUTE' DISASTER MOBILIZATION SCENARIO (END-TO-END DEMO FLOW)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260604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4048" lIns="109728" rIns="109728"/>
          <a:lstStyle/>
          <a:p>
            <a:pPr algn="ctr">
              <a:defRPr sz="950" b="1">
                <a:solidFill>
                  <a:srgbClr val="0F172A"/>
                </a:solidFill>
                <a:latin typeface="Calibri"/>
              </a:defRPr>
            </a:pPr>
            <a:r>
              <a:t>NH-27 Commuter / Trucker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Spots fresh tension crack at Jatinga km 72. Opens /report: auto-captures GPS, snaps photo, submits in 15s. Receives Tracking ID: REP-2026-ED2405.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260604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STEP 1: FIELD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337560"/>
            <a:ext cx="260604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4048" lIns="109728" rIns="109728"/>
          <a:lstStyle/>
          <a:p>
            <a:pPr algn="ctr">
              <a:defRPr sz="950" b="1">
                <a:solidFill>
                  <a:srgbClr val="0F172A"/>
                </a:solidFill>
                <a:latin typeface="Calibri"/>
              </a:defRPr>
            </a:pPr>
            <a:r>
              <a:t>FastAPI Live Risk Engine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Fuses citizen report with live weather: 72h rain spikes to 248mm (threshold: 200mm) + soil saturation at 89%. Dynamic risk score spikes to 88/100 (CRITICAL).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337560"/>
            <a:ext cx="260604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STEP 2: AI DUAL 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337560"/>
            <a:ext cx="260604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4048" lIns="109728" rIns="109728"/>
          <a:lstStyle/>
          <a:p>
            <a:pPr algn="ctr">
              <a:defRPr sz="950" b="1">
                <a:solidFill>
                  <a:srgbClr val="0F172A"/>
                </a:solidFill>
                <a:latin typeface="Calibri"/>
              </a:defRPr>
            </a:pPr>
            <a:r>
              <a:t>DDMA District Officer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Officer Rajesh Barman receives pulsing red radar alert on Leaflet Topo map. Explainable AI reveals Disang shale shear risk &amp; suggests emergency road closure.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337560"/>
            <a:ext cx="2606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STEP 3: OFFICER HUB 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337560"/>
            <a:ext cx="260604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4048" lIns="109728" rIns="109728"/>
          <a:lstStyle/>
          <a:p>
            <a:pPr algn="ctr">
              <a:defRPr sz="950" b="1">
                <a:solidFill>
                  <a:srgbClr val="0F172A"/>
                </a:solidFill>
                <a:latin typeface="Calibri"/>
              </a:defRPr>
            </a:pPr>
            <a:r>
              <a:t>SDRF &amp; PWD Field Teams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DDMA halts heavy freight, stages pre-positioned BRO excavators, and evacuates 12 downhill homes. Slope collapses 3 hrs later: ZERO CASUALTIES!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3337560"/>
            <a:ext cx="2606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STEP 4: CIVIL ACTION &amp; RESCUE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03520"/>
            <a:ext cx="11247120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ALIGNMENT WITH NATIONAL MISSIONS &amp; UN SUSTAINABLE DEVELOPMENT GOALS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650992"/>
            <a:ext cx="260604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NDMA NLRMS Alignment</a:t>
            </a:r>
          </a:p>
          <a:p>
            <a:pPr>
              <a:defRPr sz="750">
                <a:solidFill>
                  <a:srgbClr val="CBD5E1"/>
                </a:solidFill>
                <a:latin typeface="Calibri"/>
              </a:defRPr>
            </a:pPr>
            <a:r>
              <a:t>Directly supports National Landslide Risk Mitigation Scheme with software-first corridor monitoring.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5650992"/>
            <a:ext cx="260604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PM's 10-Point DRR Agenda</a:t>
            </a:r>
          </a:p>
          <a:p>
            <a:pPr>
              <a:defRPr sz="750">
                <a:solidFill>
                  <a:srgbClr val="CBD5E1"/>
                </a:solidFill>
                <a:latin typeface="Calibri"/>
              </a:defRPr>
            </a:pPr>
            <a:r>
              <a:t>Fulfills Agenda 1 (all development to be disaster resilient) and Agenda 3 (women &amp; community involvement in DRR).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5650992"/>
            <a:ext cx="260604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UN SDG 9: Resilient Infra</a:t>
            </a:r>
          </a:p>
          <a:p>
            <a:pPr>
              <a:defRPr sz="750">
                <a:solidFill>
                  <a:srgbClr val="CBD5E1"/>
                </a:solidFill>
                <a:latin typeface="Calibri"/>
              </a:defRPr>
            </a:pPr>
            <a:r>
              <a:t>Protects NH-27 &amp; Lumding railway line from catastrophic transit collapse.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5650992"/>
            <a:ext cx="260604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UN SDG 11 &amp; 13: Climate Action</a:t>
            </a:r>
          </a:p>
          <a:p>
            <a:pPr>
              <a:defRPr sz="750">
                <a:solidFill>
                  <a:srgbClr val="CBD5E1"/>
                </a:solidFill>
                <a:latin typeface="Calibri"/>
              </a:defRPr>
            </a:pPr>
            <a:r>
              <a:t>Fosters disaster-resilient hill cities; early warning mechanisms for extreme weather cloudbursts.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6459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GENius-Z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RESEARCH, MARKET SIZE &amp; REFERENCES</a:t>
            </a:r>
          </a:p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AI-Based Early Warning and Landslide Risk Monitoring System in NER (PS: 26001)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164592"/>
            <a:ext cx="1737360" cy="530352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45309"/>
                </a:solidFill>
                <a:latin typeface="Calibri"/>
              </a:defRPr>
            </a:pPr>
            <a:r>
              <a:t>SMART INDIA HACKATHON 2026</a:t>
            </a:r>
          </a:p>
          <a:p>
            <a:pPr algn="ctr">
              <a:defRPr sz="1100" b="1">
                <a:solidFill>
                  <a:srgbClr val="B45309"/>
                </a:solidFill>
                <a:latin typeface="Calibri"/>
              </a:defRPr>
            </a:pPr>
            <a:r>
              <a:t>GRAND FINALE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93192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82880" rIns="182880"/>
          <a:lstStyle/>
          <a:p>
            <a:pPr algn="ctr"/>
            <a:r>
              <a:rPr b="1" sz="950">
                <a:solidFill>
                  <a:srgbClr val="0284C7"/>
                </a:solidFill>
                <a:latin typeface="Calibri"/>
              </a:rPr>
              <a:t>• TAM (Total Addressable Market) — ₹4,200 Cr
</a:t>
            </a:r>
            <a:r>
              <a:rPr sz="850">
                <a:solidFill>
                  <a:srgbClr val="0F172A"/>
                </a:solidFill>
                <a:latin typeface="Calibri"/>
              </a:rPr>
              <a:t>   Disaster risk management, telemetry, and early warning software spending across all 12 Himalayan / Mountain States &amp; UTs in India.
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SAM (Service Available Market) — ₹850 Cr
</a:t>
            </a:r>
            <a:r>
              <a:rPr sz="850">
                <a:solidFill>
                  <a:srgbClr val="0F172A"/>
                </a:solidFill>
                <a:latin typeface="Calibri"/>
              </a:rPr>
              <a:t>   Annual state disaster management allocations across 8 North Eastern Region (NER) states (ASDMA, SDMA Sikkim, Nagaland, etc.).
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SOM (Service Obtainable Market) — ₹45 Cr
</a:t>
            </a:r>
            <a:r>
              <a:rPr sz="850">
                <a:solidFill>
                  <a:srgbClr val="0F172A"/>
                </a:solidFill>
                <a:latin typeface="Calibri"/>
              </a:rPr>
              <a:t>   High-priority arterial transit corridors (NH-27, NH-10, NH-29, Lumding-Badarpur railway) across 15 high-risk districts in 3 years.
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District Unit Economics (SaaS Model)
</a:t>
            </a:r>
            <a:r>
              <a:rPr sz="850">
                <a:solidFill>
                  <a:srgbClr val="0F172A"/>
                </a:solidFill>
                <a:latin typeface="Calibri"/>
              </a:rPr>
              <a:t>   • Initial District Setup &amp; GIS Customization: ₹8.5 Lakhs
• Annual Maintenance, APIs &amp; SLA Support: ₹1.5 Lakhs/yr
• Gross Profit Margin: 82% (software-first architecture)
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National Landslide ROI Ratio: 1 : 6
</a:t>
            </a:r>
            <a:r>
              <a:rPr sz="850">
                <a:solidFill>
                  <a:srgbClr val="0F172A"/>
                </a:solidFill>
                <a:latin typeface="Calibri"/>
              </a:rPr>
              <a:t>   NDMA studies establish that ₹1 spent on proactive early warning saves ₹6 in post-disaster infrastructure repair &amp; compensation.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56616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MARKET SIZE &amp; DEPLOYMENT ECONOMICS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51560"/>
            <a:ext cx="393192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82880" rIns="182880"/>
          <a:lstStyle/>
          <a:p>
            <a:pPr algn="ctr"/>
            <a:r>
              <a:rPr b="1" sz="950">
                <a:solidFill>
                  <a:srgbClr val="0284C7"/>
                </a:solidFill>
                <a:latin typeface="Calibri"/>
              </a:rPr>
              <a:t>• GSI Bhusanket &amp; NLFC (Geological Survey of India)
</a:t>
            </a:r>
            <a:r>
              <a:rPr sz="850">
                <a:solidFill>
                  <a:srgbClr val="0F172A"/>
                </a:solidFill>
                <a:latin typeface="Calibri"/>
              </a:rPr>
              <a:t>   National Landslide Susceptibility Mapping (NLSM) 1:50,000 spatial baseline and regional slope inventory (bhusanket.gsi.gov.in).
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ISRO Landslide Atlas of India (NRSC)
</a:t>
            </a:r>
            <a:r>
              <a:rPr sz="850">
                <a:solidFill>
                  <a:srgbClr val="0F172A"/>
                </a:solidFill>
                <a:latin typeface="Calibri"/>
              </a:rPr>
              <a:t>   Comprehensive satellite-derived landslide vulnerability database and high-risk corridor damage assessments (isro.gov.in).
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IMD &amp; Open Government Data
</a:t>
            </a:r>
            <a:r>
              <a:rPr sz="850">
                <a:solidFill>
                  <a:srgbClr val="0F172A"/>
                </a:solidFill>
                <a:latin typeface="Calibri"/>
              </a:rPr>
              <a:t>   0.25° gridded daily rainfall data, Automated Weather Station telemetry, and extreme precipitation trends (data.gov.in).
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Copernicus Sentinel-2 (ESA)
</a:t>
            </a:r>
            <a:r>
              <a:rPr sz="850">
                <a:solidFill>
                  <a:srgbClr val="0F172A"/>
                </a:solidFill>
                <a:latin typeface="Calibri"/>
              </a:rPr>
              <a:t>   10m multispectral satellite imagery used for NDVI vegetative cover tracking and surface wetness monitoring.
</a:t>
            </a:r>
          </a:p>
          <a:p>
            <a:r>
              <a:rPr b="1" sz="950">
                <a:solidFill>
                  <a:srgbClr val="0284C7"/>
                </a:solidFill>
                <a:latin typeface="Calibri"/>
              </a:rPr>
              <a:t>• IEEE Peer-Reviewed Benchmark Papers
</a:t>
            </a:r>
            <a:r>
              <a:rPr sz="850">
                <a:solidFill>
                  <a:srgbClr val="0F172A"/>
                </a:solidFill>
                <a:latin typeface="Calibri"/>
              </a:rPr>
              <a:t>   • 'Accurate IoT Based Slope Instability Sensing for Landslide Detection' (IEEE Sensors Journal, 2022)
• 'ML-Based Early Landslide Warning System' (IEEE, 2021)
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188720"/>
            <a:ext cx="356616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RESEARCH &amp; GOVT DATA RESOURCES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051560"/>
            <a:ext cx="301752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64592" rIns="164592"/>
          <a:lstStyle/>
          <a:p>
            <a:pPr algn="ctr"/>
            <a:r>
              <a:rPr b="1" sz="950">
                <a:solidFill>
                  <a:srgbClr val="10B981"/>
                </a:solidFill>
                <a:latin typeface="Calibri"/>
              </a:rPr>
              <a:t>✓ Working GitHub Repository
</a:t>
            </a:r>
            <a:r>
              <a:rPr sz="850">
                <a:solidFill>
                  <a:srgbClr val="0F172A"/>
                </a:solidFill>
                <a:latin typeface="Calibri"/>
              </a:rPr>
              <a:t>   Full source code for FastAPI backend, React 18 frontend, and Capacitor Android mobile APK.
</a:t>
            </a:r>
          </a:p>
          <a:p>
            <a:r>
              <a:rPr b="1" sz="950">
                <a:solidFill>
                  <a:srgbClr val="10B981"/>
                </a:solidFill>
                <a:latin typeface="Calibri"/>
              </a:rPr>
              <a:t>✓ Interactive Swagger APIs
</a:t>
            </a:r>
            <a:r>
              <a:rPr sz="850">
                <a:solidFill>
                  <a:srgbClr val="0F172A"/>
                </a:solidFill>
                <a:latin typeface="Calibri"/>
              </a:rPr>
              <a:t>   Live endpoint documentation available at localhost:8000/docs with Pydantic schemas.
</a:t>
            </a:r>
          </a:p>
          <a:p>
            <a:r>
              <a:rPr b="1" sz="950">
                <a:solidFill>
                  <a:srgbClr val="10B981"/>
                </a:solidFill>
                <a:latin typeface="Calibri"/>
              </a:rPr>
              <a:t>✓ Offline Demo Toggle
</a:t>
            </a:r>
            <a:r>
              <a:rPr sz="850">
                <a:solidFill>
                  <a:srgbClr val="0F172A"/>
                </a:solidFill>
                <a:latin typeface="Calibri"/>
              </a:rPr>
              <a:t>   Interactive evaluators button [Demo: Test Offline Cache Banner] to prove field resilience.
</a:t>
            </a:r>
          </a:p>
          <a:p>
            <a:r>
              <a:rPr b="1" sz="950">
                <a:solidFill>
                  <a:srgbClr val="10B981"/>
                </a:solidFill>
                <a:latin typeface="Calibri"/>
              </a:rPr>
              <a:t>✓ Consolidated Proof Dossier
</a:t>
            </a:r>
            <a:r>
              <a:rPr sz="850">
                <a:solidFill>
                  <a:srgbClr val="0F172A"/>
                </a:solidFill>
                <a:latin typeface="Calibri"/>
              </a:rPr>
              <a:t>   Geotechnical calculation sheets, Dima Hasao GIS layers, and simulation logs.
</a:t>
            </a:r>
          </a:p>
          <a:p>
            <a:r>
              <a:rPr b="1" sz="950">
                <a:solidFill>
                  <a:srgbClr val="10B981"/>
                </a:solidFill>
                <a:latin typeface="Calibri"/>
              </a:rPr>
              <a:t>✓ Evaluator 1-Click Credentials
</a:t>
            </a:r>
            <a:r>
              <a:rPr sz="850">
                <a:solidFill>
                  <a:srgbClr val="0F172A"/>
                </a:solidFill>
                <a:latin typeface="Calibri"/>
              </a:rPr>
              <a:t>   • DDMO Rajesh Barman (Dima Hasao)
• PWD Eng. Anupam Sen (Jatinga-Harangajao)
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188720"/>
            <a:ext cx="274320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VERIFIED PROJECT ASSETS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